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Instruction/NetRCA_AI_Initial_Project_Proposal.docx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Instruction/NetRCA_AI_Initial_Project_Proposal.docx</a:t>
            </a:r>
          </a:p>
          <a:p>
            <a:r>
              <a:t>- Instruction/PRD.md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Instruction/ARCHITECTURE.md</a:t>
            </a:r>
          </a:p>
          <a:p>
            <a:r>
              <a:t>- Instruction/APIDESIGN.md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correlation/PHASE9_REPORT.md</a:t>
            </a:r>
          </a:p>
          <a:p>
            <a:r>
              <a:t>- rca/PHASE11_REPORT.md</a:t>
            </a:r>
          </a:p>
          <a:p>
            <a:r>
              <a:t>- impact/PHASE12_REPORT.md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PRESENTATION.md</a:t>
            </a:r>
          </a:p>
          <a:p>
            <a:r>
              <a:t>- frontend/src/components/dashboard.tsx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frontend/PHASE17_REPORT.md</a:t>
            </a:r>
          </a:p>
          <a:p>
            <a:r>
              <a:t>- topology/PHASE10_REPORT.md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rca/PHASE11_REPORT.md</a:t>
            </a:r>
          </a:p>
          <a:p>
            <a:r>
              <a:t>- impact/PHASE12_REPORT.md</a:t>
            </a:r>
          </a:p>
          <a:p>
            <a:r>
              <a:t>- explanation/PHASE13_REPORT.md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Instruction/ARCHITECTURE.md</a:t>
            </a:r>
          </a:p>
          <a:p>
            <a:r>
              <a:t>- Instruction/TECHSTACK.md</a:t>
            </a:r>
          </a:p>
          <a:p>
            <a:r>
              <a:t>- backend/app/main.py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Instruction/SECURITY.md</a:t>
            </a:r>
          </a:p>
          <a:p>
            <a:r>
              <a:t>- audit/PHASE14-18_AUDIT_REPORT.md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PRESENTATION.md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sources:</a:t>
            </a:r>
          </a:p>
          <a:p>
            <a:r>
              <a:t>- PRESENTATION.md</a:t>
            </a:r>
          </a:p>
          <a:p>
            <a:r>
              <a:t>- Instruction/PRD.md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6510D0-40B4-4EAA-9124-8584C9833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7825850-D5AB-4392-BAB3-D12D4C9AC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E78A434-C8D5-4392-87CE-470B472F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A5E5505-3FDE-429D-B57D-61F28E762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A7F5F25-FA5E-4A46-B5C3-601BDD78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28298C-A0FD-475E-845A-D699247F8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704012-EF08-40AB-8FE2-E5578BB49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E674FCF-BA4F-467D-AF70-B1E3DEEB184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D3F2EA5-8347-4D5A-A44D-842B70AF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769E236-5CDF-4ADF-9749-160ABBB48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F4543D-D53A-499F-BAE1-14E84D140B6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67B6FF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CDA773-BF1D-4F36-89C8-3649A2CE4B51}"/>
              </a:ext>
            </a:extLst>
          </p:cNvPr>
          <p:cNvSpPr>
            <a:spLocks noGrp="1"/>
          </p:cNvSpPr>
          <p:nvPr/>
        </p:nvSpPr>
        <p:spPr>
          <a:xfrm>
            <a:off x="3048000" y="1047750"/>
            <a:ext cx="6096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92000"/>
              </a:lnSpc>
              <a:buNone/>
              <a:defRPr sz="4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NETRCA</a:t>
            </a:r>
            <a:endParaRPr sz="4125" b="1" dirty="0">
              <a:solidFill>
                <a:srgbClr val="EEF6F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29FC7A-A5B2-432C-9349-2B0BA5D3C924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533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8000"/>
              </a:lnSpc>
              <a:buNone/>
              <a:defRPr sz="15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A6BBCA"/>
                </a:solidFill>
                <a:latin typeface="Arial"/>
                <a:ea typeface="Arial"/>
                <a:cs typeface="Arial"/>
              </a:rPr>
              <a:t>Network evidence, topology, and deterministic reasoning in one operator workspace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65486F-1039-4800-8F84-C80276AE6728}"/>
              </a:ext>
            </a:extLst>
          </p:cNvPr>
          <p:cNvSpPr>
            <a:spLocks noGrp="1"/>
          </p:cNvSpPr>
          <p:nvPr/>
        </p:nvSpPr>
        <p:spPr>
          <a:xfrm>
            <a:off x="666750" y="5805487"/>
            <a:ext cx="4762500" cy="28575"/>
          </a:xfrm>
          <a:prstGeom prst="rect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EC8569-D465-4DDD-8D63-9AB75371E368}"/>
              </a:ext>
            </a:extLst>
          </p:cNvPr>
          <p:cNvSpPr>
            <a:spLocks noGrp="1"/>
          </p:cNvSpPr>
          <p:nvPr/>
        </p:nvSpPr>
        <p:spPr>
          <a:xfrm>
            <a:off x="647700" y="4991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endParaRPr sz="1125" b="1" dirty="0">
              <a:solidFill>
                <a:srgbClr val="EEF6F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EA37A4-4BEF-4475-AC63-446ED2FBC8D1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400050" cy="400050"/>
          </a:xfrm>
          <a:prstGeom prst="ellipse">
            <a:avLst/>
          </a:prstGeom>
          <a:solidFill>
            <a:srgbClr val="FF9DAC"/>
          </a:solidFill>
          <a:ln w="0">
            <a:solidFill>
              <a:srgbClr val="FF9D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F80A1A-15FD-4CEE-AD01-CCF0927EBAED}"/>
              </a:ext>
            </a:extLst>
          </p:cNvPr>
          <p:cNvSpPr>
            <a:spLocks noGrp="1"/>
          </p:cNvSpPr>
          <p:nvPr/>
        </p:nvSpPr>
        <p:spPr>
          <a:xfrm>
            <a:off x="9925050" y="2457450"/>
            <a:ext cx="400050" cy="400050"/>
          </a:xfrm>
          <a:prstGeom prst="ellipse">
            <a:avLst/>
          </a:prstGeom>
          <a:solidFill>
            <a:srgbClr val="F4CE72"/>
          </a:solidFill>
          <a:ln w="0">
            <a:solidFill>
              <a:srgbClr val="F4C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7CD697-606F-498A-9BB3-CCCC05FD58F1}"/>
              </a:ext>
            </a:extLst>
          </p:cNvPr>
          <p:cNvSpPr>
            <a:spLocks noGrp="1"/>
          </p:cNvSpPr>
          <p:nvPr/>
        </p:nvSpPr>
        <p:spPr>
          <a:xfrm>
            <a:off x="7858125" y="3905250"/>
            <a:ext cx="400050" cy="400050"/>
          </a:xfrm>
          <a:prstGeom prst="ellipse">
            <a:avLst/>
          </a:prstGeom>
          <a:solidFill>
            <a:srgbClr val="6EE7C1"/>
          </a:solidFill>
          <a:ln w="0">
            <a:solidFill>
              <a:srgbClr val="6EE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FC55FD-CCCE-4E04-8989-FC5DBDD86BB1}"/>
              </a:ext>
            </a:extLst>
          </p:cNvPr>
          <p:cNvSpPr>
            <a:spLocks noGrp="1"/>
          </p:cNvSpPr>
          <p:nvPr/>
        </p:nvSpPr>
        <p:spPr>
          <a:xfrm>
            <a:off x="10115550" y="4762500"/>
            <a:ext cx="400050" cy="400050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5D34A8-948D-426B-B392-3F375DE85D16}"/>
              </a:ext>
            </a:extLst>
          </p:cNvPr>
          <p:cNvSpPr>
            <a:spLocks noGrp="1"/>
          </p:cNvSpPr>
          <p:nvPr/>
        </p:nvSpPr>
        <p:spPr>
          <a:xfrm>
            <a:off x="8439150" y="1714500"/>
            <a:ext cx="1619250" cy="3810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C728E7-8311-4E53-94E0-8C55F67AD19B}"/>
              </a:ext>
            </a:extLst>
          </p:cNvPr>
          <p:cNvSpPr>
            <a:spLocks noGrp="1"/>
          </p:cNvSpPr>
          <p:nvPr/>
        </p:nvSpPr>
        <p:spPr>
          <a:xfrm>
            <a:off x="8239125" y="1924050"/>
            <a:ext cx="38100" cy="209550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D4955-61A0-4928-AD11-5BD4A25233AB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1943100" cy="3810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1308D8-548D-43AE-BBA8-D591CA96DC0C}"/>
              </a:ext>
            </a:extLst>
          </p:cNvPr>
          <p:cNvSpPr>
            <a:spLocks noGrp="1"/>
          </p:cNvSpPr>
          <p:nvPr/>
        </p:nvSpPr>
        <p:spPr>
          <a:xfrm>
            <a:off x="10115550" y="2781300"/>
            <a:ext cx="38100" cy="209550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DD253-406B-4746-B01B-6748B2EE48A7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F30A75-3FD8-4784-8806-06FD3994CAEC}"/>
              </a:ext>
            </a:extLst>
          </p:cNvPr>
          <p:cNvSpPr>
            <a:spLocks noGrp="1"/>
          </p:cNvSpPr>
          <p:nvPr/>
        </p:nvSpPr>
        <p:spPr>
          <a:xfrm>
            <a:off x="9944100" y="256222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FDCDC-2D52-45B9-AE48-B300BE25C4AD}"/>
              </a:ext>
            </a:extLst>
          </p:cNvPr>
          <p:cNvSpPr>
            <a:spLocks noGrp="1"/>
          </p:cNvSpPr>
          <p:nvPr/>
        </p:nvSpPr>
        <p:spPr>
          <a:xfrm>
            <a:off x="7848600" y="40100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750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C2BFFB-7628-4845-8743-D779E37298AD}"/>
              </a:ext>
            </a:extLst>
          </p:cNvPr>
          <p:cNvSpPr>
            <a:spLocks noGrp="1"/>
          </p:cNvSpPr>
          <p:nvPr/>
        </p:nvSpPr>
        <p:spPr>
          <a:xfrm>
            <a:off x="10134600" y="48672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8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C4F0CA-3A2E-448B-AA01-8666F24A93D4}"/>
              </a:ext>
            </a:extLst>
          </p:cNvPr>
          <p:cNvSpPr>
            <a:spLocks noGrp="1"/>
          </p:cNvSpPr>
          <p:nvPr/>
        </p:nvSpPr>
        <p:spPr>
          <a:xfrm>
            <a:off x="8096250" y="5286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Evidence path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05FD39-C2E8-47E4-86FD-C2668B406BA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63C8B9-C99D-4858-9DBA-B58830D6824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F333DE-5F28-9DE1-627F-08A8DA89805C}"/>
              </a:ext>
            </a:extLst>
          </p:cNvPr>
          <p:cNvSpPr txBox="1"/>
          <p:nvPr/>
        </p:nvSpPr>
        <p:spPr>
          <a:xfrm>
            <a:off x="2628285" y="2181045"/>
            <a:ext cx="3372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Adil Mehmood          2024-CE-08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Zeeshan Ahmad      2024-CE-32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0F4FE7-15CE-AE41-F750-4C730FCA3693}"/>
              </a:ext>
            </a:extLst>
          </p:cNvPr>
          <p:cNvSpPr txBox="1"/>
          <p:nvPr/>
        </p:nvSpPr>
        <p:spPr>
          <a:xfrm>
            <a:off x="3224980" y="4105275"/>
            <a:ext cx="1549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Mr. Mehmood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C4BCD2-B58A-C9A5-A464-98D9EAB2C415}"/>
              </a:ext>
            </a:extLst>
          </p:cNvPr>
          <p:cNvSpPr txBox="1"/>
          <p:nvPr/>
        </p:nvSpPr>
        <p:spPr>
          <a:xfrm>
            <a:off x="1562100" y="359860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Supervised by:</a:t>
            </a:r>
          </a:p>
        </p:txBody>
      </p:sp>
    </p:spTree>
    <p:extLst>
      <p:ext uri="{BB962C8B-B14F-4D97-AF65-F5344CB8AC3E}">
        <p14:creationId xmlns:p14="http://schemas.microsoft.com/office/powerpoint/2010/main" val="76417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759DDC-5004-4ED6-AF9C-EA56960A858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OPERATIONAL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788077-5FB9-45C7-BD8E-B0CBBEDAB12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Network incidents arrive as disconnected symptoms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62030-95C9-4369-A80A-E9EA6FEA2D87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C9FE86-4FDD-498B-8756-3E2239E04A0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A27E12-CD52-4CB5-8248-2D7CA20A644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877BB-518F-4623-A6EC-B7E3D79E9727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High latency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118275-4EBB-4921-9FCB-28AACCCE3653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Packet loss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A1911-5E61-4162-9BA7-1A3B5C9F4FAC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Service timeouts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6E6225-9983-40A9-9200-B5A99EB32246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Alarm flood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7D7929-8426-47B5-BEF6-C25830AC24ED}"/>
              </a:ext>
            </a:extLst>
          </p:cNvPr>
          <p:cNvSpPr>
            <a:spLocks noGrp="1"/>
          </p:cNvSpPr>
          <p:nvPr/>
        </p:nvSpPr>
        <p:spPr>
          <a:xfrm>
            <a:off x="609600" y="2210722"/>
            <a:ext cx="45719" cy="2653788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47C308-85EB-4D12-BBBF-154108EFE032}"/>
              </a:ext>
            </a:extLst>
          </p:cNvPr>
          <p:cNvSpPr>
            <a:spLocks noGrp="1"/>
          </p:cNvSpPr>
          <p:nvPr/>
        </p:nvSpPr>
        <p:spPr>
          <a:xfrm>
            <a:off x="552450" y="2042037"/>
            <a:ext cx="171450" cy="171450"/>
          </a:xfrm>
          <a:prstGeom prst="ellipse">
            <a:avLst/>
          </a:prstGeom>
          <a:solidFill>
            <a:srgbClr val="F4CE72"/>
          </a:solidFill>
          <a:ln w="0">
            <a:solidFill>
              <a:srgbClr val="F4C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F8464D-AE98-4C34-8308-55D7BDE9622D}"/>
              </a:ext>
            </a:extLst>
          </p:cNvPr>
          <p:cNvSpPr>
            <a:spLocks noGrp="1"/>
          </p:cNvSpPr>
          <p:nvPr/>
        </p:nvSpPr>
        <p:spPr>
          <a:xfrm>
            <a:off x="538162" y="2914650"/>
            <a:ext cx="171450" cy="128588"/>
          </a:xfrm>
          <a:prstGeom prst="ellipse">
            <a:avLst/>
          </a:prstGeom>
          <a:solidFill>
            <a:srgbClr val="FF9DAC"/>
          </a:solidFill>
          <a:ln w="0">
            <a:solidFill>
              <a:srgbClr val="FF9DA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391865-DFD8-4F8B-9CD6-CEB3EF48EDF8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71450" cy="171450"/>
          </a:xfrm>
          <a:prstGeom prst="ellipse">
            <a:avLst/>
          </a:prstGeom>
          <a:solidFill>
            <a:srgbClr val="FF9DAC"/>
          </a:solidFill>
          <a:ln w="0">
            <a:solidFill>
              <a:srgbClr val="FF9D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526486-E2A4-43E1-B77F-A742948B9CE9}"/>
              </a:ext>
            </a:extLst>
          </p:cNvPr>
          <p:cNvSpPr>
            <a:spLocks noGrp="1"/>
          </p:cNvSpPr>
          <p:nvPr/>
        </p:nvSpPr>
        <p:spPr>
          <a:xfrm>
            <a:off x="523875" y="4693060"/>
            <a:ext cx="171450" cy="171450"/>
          </a:xfrm>
          <a:prstGeom prst="ellipse">
            <a:avLst/>
          </a:prstGeom>
          <a:solidFill>
            <a:srgbClr val="A6BBCA"/>
          </a:solidFill>
          <a:ln w="0">
            <a:solidFill>
              <a:srgbClr val="A6B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C748F-89F9-4D42-B594-FB7201157B92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6858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127"/>
          </a:bodyPr>
          <a:lstStyle>
            <a:def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Operators must connect symptoms across devices and services before they can identify the first supported failure.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1ADAF4-833B-4494-B163-CFEC7E3440BC}"/>
              </a:ext>
            </a:extLst>
          </p:cNvPr>
          <p:cNvSpPr>
            <a:spLocks noGrp="1"/>
          </p:cNvSpPr>
          <p:nvPr/>
        </p:nvSpPr>
        <p:spPr>
          <a:xfrm>
            <a:off x="4095750" y="3143250"/>
            <a:ext cx="6000750" cy="28575"/>
          </a:xfrm>
          <a:prstGeom prst="rect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C68F5E-87AE-495F-8B27-9DB775CB5B3B}"/>
              </a:ext>
            </a:extLst>
          </p:cNvPr>
          <p:cNvSpPr>
            <a:spLocks noGrp="1"/>
          </p:cNvSpPr>
          <p:nvPr/>
        </p:nvSpPr>
        <p:spPr>
          <a:xfrm>
            <a:off x="4095750" y="3486150"/>
            <a:ext cx="62865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Telemetry often sits in separate tools.</a:t>
            </a:r>
          </a:p>
          <a:p>
            <a:endParaRPr sz="1425" b="0">
              <a:solidFill>
                <a:srgbClr val="A6BBC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25000"/>
              </a:lnSpc>
              <a:buNone/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Topology relationships remain difficult to inspect during an outage.</a:t>
            </a:r>
          </a:p>
          <a:p>
            <a:endParaRPr sz="1425" b="0">
              <a:solidFill>
                <a:srgbClr val="A6BBC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25000"/>
              </a:lnSpc>
              <a:buNone/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Manual triage can produce inconsistent conclusions and slow escalation.</a:t>
            </a:r>
          </a:p>
        </p:txBody>
      </p:sp>
    </p:spTree>
    <p:extLst>
      <p:ext uri="{BB962C8B-B14F-4D97-AF65-F5344CB8AC3E}">
        <p14:creationId xmlns:p14="http://schemas.microsoft.com/office/powerpoint/2010/main" val="177800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EB7928-1AC3-4CA9-8F1F-B8C975BF2C9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PLATFORM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EFE61-C9B6-4BEF-92A7-A12BFF78854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One evidence trail from observation to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BAC0C0-A38F-42FE-9620-AB332FF9A7F5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91F5B-B99C-478A-85EA-E7121864663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B6D8B6-8F97-4DEF-915B-4ACD04AFD07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1B3597-45A9-431F-BA0E-594A993298AD}"/>
              </a:ext>
            </a:extLst>
          </p:cNvPr>
          <p:cNvSpPr>
            <a:spLocks noGrp="1"/>
          </p:cNvSpPr>
          <p:nvPr/>
        </p:nvSpPr>
        <p:spPr>
          <a:xfrm>
            <a:off x="647700" y="20574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BF46B-B623-4632-B193-6B90FE6ED9B8}"/>
              </a:ext>
            </a:extLst>
          </p:cNvPr>
          <p:cNvSpPr>
            <a:spLocks noGrp="1"/>
          </p:cNvSpPr>
          <p:nvPr/>
        </p:nvSpPr>
        <p:spPr>
          <a:xfrm>
            <a:off x="647700" y="24193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C953CE-77A0-4AB7-B9B0-5999ED608F6A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Metrics, logs, events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16860-2FE7-46E1-90DF-786AB5417792}"/>
              </a:ext>
            </a:extLst>
          </p:cNvPr>
          <p:cNvSpPr>
            <a:spLocks noGrp="1"/>
          </p:cNvSpPr>
          <p:nvPr/>
        </p:nvSpPr>
        <p:spPr>
          <a:xfrm>
            <a:off x="2076450" y="2533650"/>
            <a:ext cx="4000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EF2336-D28A-41AF-92C3-05394A02E085}"/>
              </a:ext>
            </a:extLst>
          </p:cNvPr>
          <p:cNvSpPr>
            <a:spLocks noGrp="1"/>
          </p:cNvSpPr>
          <p:nvPr/>
        </p:nvSpPr>
        <p:spPr>
          <a:xfrm>
            <a:off x="2409825" y="2466975"/>
            <a:ext cx="142875" cy="142875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43E89-2A05-404C-A327-4CFF5DF493D7}"/>
              </a:ext>
            </a:extLst>
          </p:cNvPr>
          <p:cNvSpPr>
            <a:spLocks noGrp="1"/>
          </p:cNvSpPr>
          <p:nvPr/>
        </p:nvSpPr>
        <p:spPr>
          <a:xfrm>
            <a:off x="2514600" y="20574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A16DF3-1AC2-4522-A82B-9D992FDEEB3A}"/>
              </a:ext>
            </a:extLst>
          </p:cNvPr>
          <p:cNvSpPr>
            <a:spLocks noGrp="1"/>
          </p:cNvSpPr>
          <p:nvPr/>
        </p:nvSpPr>
        <p:spPr>
          <a:xfrm>
            <a:off x="2571750" y="240982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EEF6F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73801-E765-4E81-BFF9-C00389CB84A4}"/>
              </a:ext>
            </a:extLst>
          </p:cNvPr>
          <p:cNvSpPr>
            <a:spLocks noGrp="1"/>
          </p:cNvSpPr>
          <p:nvPr/>
        </p:nvSpPr>
        <p:spPr>
          <a:xfrm>
            <a:off x="2514600" y="28384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Thresholds and ML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EFE7D6-8063-494E-BC5E-826CD421B03D}"/>
              </a:ext>
            </a:extLst>
          </p:cNvPr>
          <p:cNvSpPr>
            <a:spLocks noGrp="1"/>
          </p:cNvSpPr>
          <p:nvPr/>
        </p:nvSpPr>
        <p:spPr>
          <a:xfrm>
            <a:off x="3943350" y="2533650"/>
            <a:ext cx="4000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3674CC4-98DE-40F0-AA3B-8693FDC72BEB}"/>
              </a:ext>
            </a:extLst>
          </p:cNvPr>
          <p:cNvSpPr>
            <a:spLocks noGrp="1"/>
          </p:cNvSpPr>
          <p:nvPr/>
        </p:nvSpPr>
        <p:spPr>
          <a:xfrm>
            <a:off x="4276725" y="2466975"/>
            <a:ext cx="142875" cy="142875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F55838-9661-4406-8EF9-AB05F038C5A0}"/>
              </a:ext>
            </a:extLst>
          </p:cNvPr>
          <p:cNvSpPr>
            <a:spLocks noGrp="1"/>
          </p:cNvSpPr>
          <p:nvPr/>
        </p:nvSpPr>
        <p:spPr>
          <a:xfrm>
            <a:off x="4381500" y="20574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BC51A-47D2-4975-8C78-E6AE8028A211}"/>
              </a:ext>
            </a:extLst>
          </p:cNvPr>
          <p:cNvSpPr>
            <a:spLocks noGrp="1"/>
          </p:cNvSpPr>
          <p:nvPr/>
        </p:nvSpPr>
        <p:spPr>
          <a:xfrm>
            <a:off x="4448175" y="240982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EEF6FB"/>
                </a:solidFill>
                <a:latin typeface="Arial"/>
                <a:ea typeface="Arial"/>
                <a:cs typeface="Arial"/>
              </a:rPr>
              <a:t>Correlate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6FBCFC-5FFD-4E55-849F-8B2B9F9AF712}"/>
              </a:ext>
            </a:extLst>
          </p:cNvPr>
          <p:cNvSpPr>
            <a:spLocks noGrp="1"/>
          </p:cNvSpPr>
          <p:nvPr/>
        </p:nvSpPr>
        <p:spPr>
          <a:xfrm>
            <a:off x="4381500" y="28384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Shared identities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8BEFF2-6327-4522-BAC3-EF3562EA68A2}"/>
              </a:ext>
            </a:extLst>
          </p:cNvPr>
          <p:cNvSpPr>
            <a:spLocks noGrp="1"/>
          </p:cNvSpPr>
          <p:nvPr/>
        </p:nvSpPr>
        <p:spPr>
          <a:xfrm>
            <a:off x="5810250" y="2533650"/>
            <a:ext cx="4000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AC2F1-1573-4C76-B2D6-5F4CD21822B8}"/>
              </a:ext>
            </a:extLst>
          </p:cNvPr>
          <p:cNvSpPr>
            <a:spLocks noGrp="1"/>
          </p:cNvSpPr>
          <p:nvPr/>
        </p:nvSpPr>
        <p:spPr>
          <a:xfrm>
            <a:off x="6143625" y="2466975"/>
            <a:ext cx="142875" cy="142875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570E0F-65FD-4351-A0F8-E5FD7197C1A7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68A222-011B-4AB1-AF92-1D2C0B6BAC2B}"/>
              </a:ext>
            </a:extLst>
          </p:cNvPr>
          <p:cNvSpPr>
            <a:spLocks noGrp="1"/>
          </p:cNvSpPr>
          <p:nvPr/>
        </p:nvSpPr>
        <p:spPr>
          <a:xfrm>
            <a:off x="6315075" y="240982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EEF6FB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72BACF-3ACF-49E8-856F-3D3A3DA2FE75}"/>
              </a:ext>
            </a:extLst>
          </p:cNvPr>
          <p:cNvSpPr>
            <a:spLocks noGrp="1"/>
          </p:cNvSpPr>
          <p:nvPr/>
        </p:nvSpPr>
        <p:spPr>
          <a:xfrm>
            <a:off x="6248400" y="28384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Topology context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A1BA28-A6B7-4F2E-94BC-748FAF89FB8E}"/>
              </a:ext>
            </a:extLst>
          </p:cNvPr>
          <p:cNvSpPr>
            <a:spLocks noGrp="1"/>
          </p:cNvSpPr>
          <p:nvPr/>
        </p:nvSpPr>
        <p:spPr>
          <a:xfrm>
            <a:off x="7677150" y="2533650"/>
            <a:ext cx="4000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3358C0-F0E7-43A2-AC66-25EDD202C732}"/>
              </a:ext>
            </a:extLst>
          </p:cNvPr>
          <p:cNvSpPr>
            <a:spLocks noGrp="1"/>
          </p:cNvSpPr>
          <p:nvPr/>
        </p:nvSpPr>
        <p:spPr>
          <a:xfrm>
            <a:off x="8010525" y="2466975"/>
            <a:ext cx="142875" cy="142875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4510C0-4FAD-4B93-A62F-C0EC8A6A77CD}"/>
              </a:ext>
            </a:extLst>
          </p:cNvPr>
          <p:cNvSpPr>
            <a:spLocks noGrp="1"/>
          </p:cNvSpPr>
          <p:nvPr/>
        </p:nvSpPr>
        <p:spPr>
          <a:xfrm>
            <a:off x="8115300" y="20574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8C5B12-B025-4DF4-981B-9367D76B354A}"/>
              </a:ext>
            </a:extLst>
          </p:cNvPr>
          <p:cNvSpPr>
            <a:spLocks noGrp="1"/>
          </p:cNvSpPr>
          <p:nvPr/>
        </p:nvSpPr>
        <p:spPr>
          <a:xfrm>
            <a:off x="8181975" y="24193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EEF6FB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BF058F-E10A-4BBD-9FF2-98C2951032E6}"/>
              </a:ext>
            </a:extLst>
          </p:cNvPr>
          <p:cNvSpPr>
            <a:spLocks noGrp="1"/>
          </p:cNvSpPr>
          <p:nvPr/>
        </p:nvSpPr>
        <p:spPr>
          <a:xfrm>
            <a:off x="8115300" y="28384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RCA and impact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4A122-EC84-4B4C-9965-09D4C3F1D0FB}"/>
              </a:ext>
            </a:extLst>
          </p:cNvPr>
          <p:cNvSpPr>
            <a:spLocks noGrp="1"/>
          </p:cNvSpPr>
          <p:nvPr/>
        </p:nvSpPr>
        <p:spPr>
          <a:xfrm>
            <a:off x="9544050" y="2533650"/>
            <a:ext cx="4000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EAFD8E0-B54C-44A0-9DC2-3CD53E6F21C4}"/>
              </a:ext>
            </a:extLst>
          </p:cNvPr>
          <p:cNvSpPr>
            <a:spLocks noGrp="1"/>
          </p:cNvSpPr>
          <p:nvPr/>
        </p:nvSpPr>
        <p:spPr>
          <a:xfrm>
            <a:off x="9877425" y="2466975"/>
            <a:ext cx="142875" cy="142875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F3CE15-DAFE-4660-B0C2-64E21406B126}"/>
              </a:ext>
            </a:extLst>
          </p:cNvPr>
          <p:cNvSpPr>
            <a:spLocks noGrp="1"/>
          </p:cNvSpPr>
          <p:nvPr/>
        </p:nvSpPr>
        <p:spPr>
          <a:xfrm>
            <a:off x="9982200" y="20574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EFB9F6-EE63-4EA4-88B8-0F8BC06FF491}"/>
              </a:ext>
            </a:extLst>
          </p:cNvPr>
          <p:cNvSpPr>
            <a:spLocks noGrp="1"/>
          </p:cNvSpPr>
          <p:nvPr/>
        </p:nvSpPr>
        <p:spPr>
          <a:xfrm>
            <a:off x="10058400" y="24193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EEF6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71D415-405C-4E69-91AA-5B996CBF0C5E}"/>
              </a:ext>
            </a:extLst>
          </p:cNvPr>
          <p:cNvSpPr>
            <a:spLocks noGrp="1"/>
          </p:cNvSpPr>
          <p:nvPr/>
        </p:nvSpPr>
        <p:spPr>
          <a:xfrm>
            <a:off x="9982200" y="28384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Grounded narrative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E493E2-0D5D-4B41-975A-BCC840461496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1057275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35EFB2-F693-4A72-A768-91CCCD6521DA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Deterministic rules remain authoritative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00A606-C0CC-4658-9F9D-2BEB979E1300}"/>
              </a:ext>
            </a:extLst>
          </p:cNvPr>
          <p:cNvSpPr>
            <a:spLocks noGrp="1"/>
          </p:cNvSpPr>
          <p:nvPr/>
        </p:nvSpPr>
        <p:spPr>
          <a:xfrm>
            <a:off x="647700" y="46482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4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The explanation layer receives validated incident context. It cannot replace stored evidence, create a root cause, or turn an inconclusive result into a conclusion.</a:t>
            </a:r>
          </a:p>
        </p:txBody>
      </p:sp>
    </p:spTree>
    <p:extLst>
      <p:ext uri="{BB962C8B-B14F-4D97-AF65-F5344CB8AC3E}">
        <p14:creationId xmlns:p14="http://schemas.microsoft.com/office/powerpoint/2010/main" val="1683831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2EDA84-CFEA-472E-8249-309E2F02610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EVIDENCE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631609-7A6A-48AC-BB4A-1BBDC7B4C2B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Incident claims retain their evidence 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2BA9F-9589-4822-8FC6-04CDD311CC2B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0979E-4177-4E25-AED5-10E78E5A2AC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9F9C0-74AC-453D-92A6-6731E5B1999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F5884-0FCD-4673-B8B4-10E5E2A737E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C99C82-0374-4A7E-9F09-6496411C157A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packet loss, latency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408D54-59DB-4203-9766-CC2EB3195686}"/>
              </a:ext>
            </a:extLst>
          </p:cNvPr>
          <p:cNvSpPr>
            <a:spLocks noGrp="1"/>
          </p:cNvSpPr>
          <p:nvPr/>
        </p:nvSpPr>
        <p:spPr>
          <a:xfrm>
            <a:off x="3095625" y="2133600"/>
            <a:ext cx="8572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9FC83-B2C7-4014-9CB6-F36A56E7D5DD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E7C1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532F72-4B68-467F-A7B9-8A57BBE48807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interface and service messages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A1C0DF-B72F-4E2A-9B91-7441C5A4689F}"/>
              </a:ext>
            </a:extLst>
          </p:cNvPr>
          <p:cNvSpPr>
            <a:spLocks noGrp="1"/>
          </p:cNvSpPr>
          <p:nvPr/>
        </p:nvSpPr>
        <p:spPr>
          <a:xfrm>
            <a:off x="3095625" y="3009900"/>
            <a:ext cx="8572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7017F6-709D-4D93-BFEF-DE479D210E41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CE72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43AB90-47B7-4982-A02F-D147A02E2B3C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state changes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90BDB-7AC5-480E-8C0E-E071C62DE2A1}"/>
              </a:ext>
            </a:extLst>
          </p:cNvPr>
          <p:cNvSpPr>
            <a:spLocks noGrp="1"/>
          </p:cNvSpPr>
          <p:nvPr/>
        </p:nvSpPr>
        <p:spPr>
          <a:xfrm>
            <a:off x="3095625" y="3886200"/>
            <a:ext cx="8572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238192-A1F2-4652-BAAF-E7AE2F73AACD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DAC"/>
                </a:solidFill>
                <a:latin typeface="Arial"/>
                <a:ea typeface="Arial"/>
                <a:cs typeface="Arial"/>
              </a:rPr>
              <a:t>ANOMALIES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B3DD87-4ED2-4E88-B863-3648FF3E9F1E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validated findings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A59D11-C625-417E-9975-0B488E6389D3}"/>
              </a:ext>
            </a:extLst>
          </p:cNvPr>
          <p:cNvSpPr>
            <a:spLocks noGrp="1"/>
          </p:cNvSpPr>
          <p:nvPr/>
        </p:nvSpPr>
        <p:spPr>
          <a:xfrm>
            <a:off x="3095625" y="4762500"/>
            <a:ext cx="85725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37F673-3FEE-4831-9A2F-2612FEDD4858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2667000" cy="1428750"/>
          </a:xfrm>
          <a:prstGeom prst="roundRect">
            <a:avLst>
              <a:gd name="adj" fmla="val 8000"/>
            </a:avLst>
          </a:prstGeom>
          <a:solidFill>
            <a:srgbClr val="102337"/>
          </a:solidFill>
          <a:ln w="9525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77F437-2019-447A-AAC1-3594670620C6}"/>
              </a:ext>
            </a:extLst>
          </p:cNvPr>
          <p:cNvSpPr>
            <a:spLocks noGrp="1"/>
          </p:cNvSpPr>
          <p:nvPr/>
        </p:nvSpPr>
        <p:spPr>
          <a:xfrm>
            <a:off x="4400550" y="2857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399D9C-7D4C-48FC-A55A-FBF7E34618A5}"/>
              </a:ext>
            </a:extLst>
          </p:cNvPr>
          <p:cNvSpPr>
            <a:spLocks noGrp="1"/>
          </p:cNvSpPr>
          <p:nvPr/>
        </p:nvSpPr>
        <p:spPr>
          <a:xfrm>
            <a:off x="4400550" y="328612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1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Stable identity</a:t>
            </a:r>
          </a:p>
          <a:p>
            <a:pPr algn="ctr">
              <a:lnSpc>
                <a:spcPct val="11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Lifecycle and severity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7E668-77BD-4F88-9777-8496570CE1A9}"/>
              </a:ext>
            </a:extLst>
          </p:cNvPr>
          <p:cNvSpPr>
            <a:spLocks noGrp="1"/>
          </p:cNvSpPr>
          <p:nvPr/>
        </p:nvSpPr>
        <p:spPr>
          <a:xfrm>
            <a:off x="6762750" y="2457450"/>
            <a:ext cx="76200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E2CCBF-39AC-4848-9F3A-18601F5980EA}"/>
              </a:ext>
            </a:extLst>
          </p:cNvPr>
          <p:cNvSpPr>
            <a:spLocks noGrp="1"/>
          </p:cNvSpPr>
          <p:nvPr/>
        </p:nvSpPr>
        <p:spPr>
          <a:xfrm>
            <a:off x="7715250" y="2000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RCA CANDIDATE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5557D8-A7E4-4B14-92BB-BCC39E403F3F}"/>
              </a:ext>
            </a:extLst>
          </p:cNvPr>
          <p:cNvSpPr>
            <a:spLocks noGrp="1"/>
          </p:cNvSpPr>
          <p:nvPr/>
        </p:nvSpPr>
        <p:spPr>
          <a:xfrm>
            <a:off x="7715250" y="2362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rule score and support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86E41F-6916-41E8-A4BB-656E6E8D29E6}"/>
              </a:ext>
            </a:extLst>
          </p:cNvPr>
          <p:cNvSpPr>
            <a:spLocks noGrp="1"/>
          </p:cNvSpPr>
          <p:nvPr/>
        </p:nvSpPr>
        <p:spPr>
          <a:xfrm>
            <a:off x="6762750" y="3695700"/>
            <a:ext cx="76200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16901E-8DCC-4CF0-8A2D-24B2A7F2602B}"/>
              </a:ext>
            </a:extLst>
          </p:cNvPr>
          <p:cNvSpPr>
            <a:spLocks noGrp="1"/>
          </p:cNvSpPr>
          <p:nvPr/>
        </p:nvSpPr>
        <p:spPr>
          <a:xfrm>
            <a:off x="7715250" y="3238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IMPACT CHAIN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6144B0-A6F7-45B6-AB1E-752BD114807B}"/>
              </a:ext>
            </a:extLst>
          </p:cNvPr>
          <p:cNvSpPr>
            <a:spLocks noGrp="1"/>
          </p:cNvSpPr>
          <p:nvPr/>
        </p:nvSpPr>
        <p:spPr>
          <a:xfrm>
            <a:off x="7715250" y="36004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observed vs potential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79836E-E01F-4069-B01F-918C14CB8D55}"/>
              </a:ext>
            </a:extLst>
          </p:cNvPr>
          <p:cNvSpPr>
            <a:spLocks noGrp="1"/>
          </p:cNvSpPr>
          <p:nvPr/>
        </p:nvSpPr>
        <p:spPr>
          <a:xfrm>
            <a:off x="6762750" y="4933950"/>
            <a:ext cx="76200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400610-69DD-4B76-A4D9-3C037FC841B0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EXPLANATION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507565-396B-4AEF-9A9F-76FDC18CC02B}"/>
              </a:ext>
            </a:extLst>
          </p:cNvPr>
          <p:cNvSpPr>
            <a:spLocks noGrp="1"/>
          </p:cNvSpPr>
          <p:nvPr/>
        </p:nvSpPr>
        <p:spPr>
          <a:xfrm>
            <a:off x="7715250" y="48387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claim references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3A50A1-C9DC-44D9-817F-432BB5217A20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666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Time proximity alone never establishes a relationship. Correlation uses explicit device, link, service, and stored topology identities.</a:t>
            </a:r>
          </a:p>
        </p:txBody>
      </p:sp>
    </p:spTree>
    <p:extLst>
      <p:ext uri="{BB962C8B-B14F-4D97-AF65-F5344CB8AC3E}">
        <p14:creationId xmlns:p14="http://schemas.microsoft.com/office/powerpoint/2010/main" val="133571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D02842-E387-4862-B1E4-7B1B8F28837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AE54E-186A-4CA9-8D76-195905C32E2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The operator workspace keeps the incident story visible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256FD-FBD0-4B74-B0ED-8F3308D139FB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ABD47-201B-4917-9D06-71DFE0EA696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ECD9AE-B85D-4535-AA3D-66C62A47B6A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4DD62-D6C9-4366-A718-D9C2AF793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8" b="5038"/>
          <a:stretch>
            <a:fillRect/>
          </a:stretch>
        </p:blipFill>
        <p:spPr>
          <a:xfrm>
            <a:off x="609600" y="1790700"/>
            <a:ext cx="7524750" cy="4229100"/>
          </a:xfrm>
          <a:prstGeom prst="roundRect">
            <a:avLst>
              <a:gd name="adj" fmla="val 270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D82320A-1B83-4D44-96B6-A6EC61A0567F}"/>
              </a:ext>
            </a:extLst>
          </p:cNvPr>
          <p:cNvSpPr>
            <a:spLocks noGrp="1"/>
          </p:cNvSpPr>
          <p:nvPr/>
        </p:nvSpPr>
        <p:spPr>
          <a:xfrm>
            <a:off x="8572500" y="20193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Operator brief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218973-EFDC-47C8-B335-440043254D70}"/>
              </a:ext>
            </a:extLst>
          </p:cNvPr>
          <p:cNvSpPr>
            <a:spLocks noGrp="1"/>
          </p:cNvSpPr>
          <p:nvPr/>
        </p:nvSpPr>
        <p:spPr>
          <a:xfrm>
            <a:off x="8572500" y="2457450"/>
            <a:ext cx="266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Degraded devices, the leading signal, and the active incident appear together.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01A250-A197-40DE-AE76-12C8EE69862E}"/>
              </a:ext>
            </a:extLst>
          </p:cNvPr>
          <p:cNvSpPr>
            <a:spLocks noGrp="1"/>
          </p:cNvSpPr>
          <p:nvPr/>
        </p:nvSpPr>
        <p:spPr>
          <a:xfrm>
            <a:off x="8572500" y="3524250"/>
            <a:ext cx="2667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2C823-F265-4F26-A6FE-FAD7252649B7}"/>
              </a:ext>
            </a:extLst>
          </p:cNvPr>
          <p:cNvSpPr>
            <a:spLocks noGrp="1"/>
          </p:cNvSpPr>
          <p:nvPr/>
        </p:nvSpPr>
        <p:spPr>
          <a:xfrm>
            <a:off x="8572500" y="38290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Guided investigation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70B2B-60AA-4723-A16F-45B78CE87959}"/>
              </a:ext>
            </a:extLst>
          </p:cNvPr>
          <p:cNvSpPr>
            <a:spLocks noGrp="1"/>
          </p:cNvSpPr>
          <p:nvPr/>
        </p:nvSpPr>
        <p:spPr>
          <a:xfrm>
            <a:off x="8572500" y="4267200"/>
            <a:ext cx="266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27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Topology, evidence, anomalies, and incident analysis remain one click away.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79E190-029D-43E4-9304-30773F1A9956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7524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Synthetic scenario shown. No customer data or remote database seed.</a:t>
            </a:r>
          </a:p>
        </p:txBody>
      </p:sp>
    </p:spTree>
    <p:extLst>
      <p:ext uri="{BB962C8B-B14F-4D97-AF65-F5344CB8AC3E}">
        <p14:creationId xmlns:p14="http://schemas.microsoft.com/office/powerpoint/2010/main" val="172371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8694C-8D8A-48D4-8D97-662EAD7C2EF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TOPOLOGY CONTEXT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2B6626-ED26-4FF1-A34B-5BC98E73794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Topology narrows the search without inventing dependencies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F5E62B-8649-419A-99CB-33DDA549C6E5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AE03E1-CCCB-42E2-97C2-CD0B0BE6AD3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97806-19C4-47E8-A988-686842CD38F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7707DF-0298-4462-9689-C9CBFE5ED9DD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Stable device and link identities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FB0D1-4E4D-4556-AFD6-9FB4D3D56A6C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Evidence filters use stored identifiers.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23C4B-297C-4302-B572-4C3033D78DB5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374"/>
          </a:bodyPr>
          <a:lstStyle>
            <a:def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Disconnected components stay visible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C8805-74AD-44D0-BBF8-D1D65239BE48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Partial and unknown graph states remain explicit.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A8DCD-33AA-4DFA-8F7C-91D3AD2A9C72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Direct context only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CA810-7183-4199-8A84-74307B51D65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Incident highlighting follows backend validated direct and one hop references.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B41908-369F-413F-99E6-FE660AF7577C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63"/>
          </a:bodyPr>
          <a:lstStyle>
            <a:def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Live and stored topology sources remain separate.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4C540C-691C-4EC3-9B30-D0B37C73D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37" b="4737"/>
          <a:stretch>
            <a:fillRect/>
          </a:stretch>
        </p:blipFill>
        <p:spPr>
          <a:xfrm>
            <a:off x="4362450" y="1809750"/>
            <a:ext cx="7239000" cy="4095750"/>
          </a:xfrm>
          <a:prstGeom prst="roundRect">
            <a:avLst>
              <a:gd name="adj" fmla="val 2791"/>
            </a:avLst>
          </a:prstGeom>
        </p:spPr>
      </p:pic>
    </p:spTree>
    <p:extLst>
      <p:ext uri="{BB962C8B-B14F-4D97-AF65-F5344CB8AC3E}">
        <p14:creationId xmlns:p14="http://schemas.microsoft.com/office/powerpoint/2010/main" val="21309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D41E39-359F-4AED-A8F0-469F1C92C13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EXPLAINABLE RCA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27DDD3-6332-418C-A8B5-DBF4A445E67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Analysis separates observed evidence from potential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7F0293-C6C5-44FC-AAE5-DE29315DF2C5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DFEC3-B288-4D4F-8F6F-3E371B9C2F7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E59873-A538-4D17-9848-C98511CA75A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EE880E-0C01-4D08-8CE9-594071FB91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8" r="1798"/>
          <a:stretch>
            <a:fillRect/>
          </a:stretch>
        </p:blipFill>
        <p:spPr>
          <a:xfrm>
            <a:off x="5334000" y="1809750"/>
            <a:ext cx="6229350" cy="4038600"/>
          </a:xfrm>
          <a:prstGeom prst="roundRect">
            <a:avLst>
              <a:gd name="adj" fmla="val 2830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839D9A-ABE4-4FA7-9B88-F5D4EFE6A817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Leading candidate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66BD6-C8B0-4F83-8097-A0E5CF08414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Failed WAN uplink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2CF173-77A3-4228-884F-2042AFB4D3AE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EE7C1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91562-C41D-474C-A5CA-54A6618DDE75}"/>
              </a:ext>
            </a:extLst>
          </p:cNvPr>
          <p:cNvSpPr>
            <a:spLocks noGrp="1"/>
          </p:cNvSpPr>
          <p:nvPr/>
        </p:nvSpPr>
        <p:spPr>
          <a:xfrm>
            <a:off x="1809750" y="29908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Link down and packet loss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5402C1-18C3-4217-B493-22CCAA513A8C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CE72"/>
                </a:solidFill>
                <a:latin typeface="Arial"/>
                <a:ea typeface="Arial"/>
                <a:cs typeface="Arial"/>
              </a:rPr>
              <a:t>Potential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CD3E6A-BC43-4ABE-A0DF-168B581B754F}"/>
              </a:ext>
            </a:extLst>
          </p:cNvPr>
          <p:cNvSpPr>
            <a:spLocks noGrp="1"/>
          </p:cNvSpPr>
          <p:nvPr/>
        </p:nvSpPr>
        <p:spPr>
          <a:xfrm>
            <a:off x="1809750" y="3581400"/>
            <a:ext cx="304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Application server and checkout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5FABBC-291C-4BFE-9EA8-FC6017237DCE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9DAC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3B2875-D07D-443D-BEA8-DD51A3054152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Rule score is not a probability. Customer impact remains unconfirmed.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A1B1E0-FDD5-4C4F-AB63-BC8675795692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The optional explanation summarizes validated context and keeps claim references.</a:t>
            </a:r>
          </a:p>
        </p:txBody>
      </p:sp>
    </p:spTree>
    <p:extLst>
      <p:ext uri="{BB962C8B-B14F-4D97-AF65-F5344CB8AC3E}">
        <p14:creationId xmlns:p14="http://schemas.microsoft.com/office/powerpoint/2010/main" val="136995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E76FED-A313-4DF5-92F0-4CB5A3DCFAE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7D05B-5497-4182-9DBD-D62120F20DC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Modular services keep collection, analysis, and explanation separate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D28D10-4E54-415A-8EFD-8D594E055A78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89547-074F-4EFE-B368-1F0DFA775A0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3B097F-C207-4EB0-B7E6-989AB427271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2B4DF-303B-4E88-BDF5-C3083F16425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95250" cy="533400"/>
          </a:xfrm>
          <a:prstGeom prst="rect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786110-E0AA-4ACC-ABF9-99588A5D729C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OPERATOR EXPERIENCE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6D40FE-B80D-4068-B642-85E9529A4AED}"/>
              </a:ext>
            </a:extLst>
          </p:cNvPr>
          <p:cNvSpPr>
            <a:spLocks noGrp="1"/>
          </p:cNvSpPr>
          <p:nvPr/>
        </p:nvSpPr>
        <p:spPr>
          <a:xfrm>
            <a:off x="3619500" y="18097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Next.js and TypeScript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411C2C-0C04-4635-A7DF-80D53EE1ED38}"/>
              </a:ext>
            </a:extLst>
          </p:cNvPr>
          <p:cNvSpPr>
            <a:spLocks noGrp="1"/>
          </p:cNvSpPr>
          <p:nvPr/>
        </p:nvSpPr>
        <p:spPr>
          <a:xfrm>
            <a:off x="990600" y="2438400"/>
            <a:ext cx="98679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2F359A-B6F5-487F-BBBE-5C4217423523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95250" cy="533400"/>
          </a:xfrm>
          <a:prstGeom prst="rect">
            <a:avLst/>
          </a:prstGeom>
          <a:solidFill>
            <a:srgbClr val="6EE7C1"/>
          </a:solidFill>
          <a:ln w="0">
            <a:solidFill>
              <a:srgbClr val="6EE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6A3791-20E5-4D88-B812-417338224519}"/>
              </a:ext>
            </a:extLst>
          </p:cNvPr>
          <p:cNvSpPr>
            <a:spLocks noGrp="1"/>
          </p:cNvSpPr>
          <p:nvPr/>
        </p:nvSpPr>
        <p:spPr>
          <a:xfrm>
            <a:off x="990600" y="259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EE7C1"/>
                </a:solidFill>
                <a:latin typeface="Arial"/>
                <a:ea typeface="Arial"/>
                <a:cs typeface="Arial"/>
              </a:rPr>
              <a:t>API AND CONTROLS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997EE7-30DD-46BF-8F29-DFB24C42F47F}"/>
              </a:ext>
            </a:extLst>
          </p:cNvPr>
          <p:cNvSpPr>
            <a:spLocks noGrp="1"/>
          </p:cNvSpPr>
          <p:nvPr/>
        </p:nvSpPr>
        <p:spPr>
          <a:xfrm>
            <a:off x="3619500" y="25908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FastAPI routes, validation, local control gates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D4FE08-28E5-4BDA-A0D2-2D5CBEBD4489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98679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496AE-EBF1-490E-BBF9-609FD01ADCF4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95250" cy="533400"/>
          </a:xfrm>
          <a:prstGeom prst="rect">
            <a:avLst/>
          </a:prstGeom>
          <a:solidFill>
            <a:srgbClr val="F4CE72"/>
          </a:solidFill>
          <a:ln w="0">
            <a:solidFill>
              <a:srgbClr val="F4C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AA26B7-7E7C-4539-B04B-D269B08681F1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CE72"/>
                </a:solidFill>
                <a:latin typeface="Arial"/>
                <a:ea typeface="Arial"/>
                <a:cs typeface="Arial"/>
              </a:rPr>
              <a:t>ANALYSIS 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29F16-EDA5-4014-9019-023DC1EFD74D}"/>
              </a:ext>
            </a:extLst>
          </p:cNvPr>
          <p:cNvSpPr>
            <a:spLocks noGrp="1"/>
          </p:cNvSpPr>
          <p:nvPr/>
        </p:nvSpPr>
        <p:spPr>
          <a:xfrm>
            <a:off x="3619500" y="33718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Correlation, NetworkX, deterministic RCA, impact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2B5637-9FE4-4589-90A6-18877179A117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98679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7F7AF-9843-49DA-9C66-65A1D146BBCA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95250" cy="533400"/>
          </a:xfrm>
          <a:prstGeom prst="rect">
            <a:avLst/>
          </a:prstGeom>
          <a:solidFill>
            <a:srgbClr val="FF9DAC"/>
          </a:solidFill>
          <a:ln w="0">
            <a:solidFill>
              <a:srgbClr val="FF9D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76098F-E694-4CB9-B71C-96B42922993F}"/>
              </a:ext>
            </a:extLst>
          </p:cNvPr>
          <p:cNvSpPr>
            <a:spLocks noGrp="1"/>
          </p:cNvSpPr>
          <p:nvPr/>
        </p:nvSpPr>
        <p:spPr>
          <a:xfrm>
            <a:off x="990600" y="415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9DAC"/>
                </a:solidFill>
                <a:latin typeface="Arial"/>
                <a:ea typeface="Arial"/>
                <a:cs typeface="Arial"/>
              </a:rPr>
              <a:t>EVIDENCE SERVICES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81CB72-4776-4AE5-BDD5-B7D0086DE302}"/>
              </a:ext>
            </a:extLst>
          </p:cNvPr>
          <p:cNvSpPr>
            <a:spLocks noGrp="1"/>
          </p:cNvSpPr>
          <p:nvPr/>
        </p:nvSpPr>
        <p:spPr>
          <a:xfrm>
            <a:off x="3619500" y="41529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Monitoring, metrics, logs, events, anomalies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4C2D00-59F3-44C8-AD4B-001635C8AA52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98679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912D6C-3C01-4505-93AE-110FD306D6F1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95250" cy="533400"/>
          </a:xfrm>
          <a:prstGeom prst="rect">
            <a:avLst/>
          </a:prstGeom>
          <a:solidFill>
            <a:srgbClr val="A6BBCA"/>
          </a:solidFill>
          <a:ln w="0">
            <a:solidFill>
              <a:srgbClr val="A6BB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C9AAAC-3780-4B7C-B168-0ECA0182A5EA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PERSISTENCE AND LAB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A02AC5-F797-4C23-A37C-B7602350C9EB}"/>
              </a:ext>
            </a:extLst>
          </p:cNvPr>
          <p:cNvSpPr>
            <a:spLocks noGrp="1"/>
          </p:cNvSpPr>
          <p:nvPr/>
        </p:nvSpPr>
        <p:spPr>
          <a:xfrm>
            <a:off x="3619500" y="49339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PostgreSQL or Supabase, Mininet and Open vSwitch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E12525-5365-48E3-9155-6CD3FEDD16CC}"/>
              </a:ext>
            </a:extLst>
          </p:cNvPr>
          <p:cNvSpPr>
            <a:spLocks noGrp="1"/>
          </p:cNvSpPr>
          <p:nvPr/>
        </p:nvSpPr>
        <p:spPr>
          <a:xfrm>
            <a:off x="990600" y="59055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Gemini remains an optional explanation provider after deterministic analysis.</a:t>
            </a:r>
          </a:p>
        </p:txBody>
      </p:sp>
    </p:spTree>
    <p:extLst>
      <p:ext uri="{BB962C8B-B14F-4D97-AF65-F5344CB8AC3E}">
        <p14:creationId xmlns:p14="http://schemas.microsoft.com/office/powerpoint/2010/main" val="865160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121CA6-7984-45FC-835B-D69C2E394C6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SECURITY AND TRUST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912A68-8EA4-4240-9351-98DC0353C74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Current safeguards support a controlled pilot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43EED-28ED-4093-90F5-5D68EAFD9F0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E8771-66AC-4FA6-AE26-F3CAE65421D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6B5EA-09A8-4FA3-B295-39005D28095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34691E-EC5D-4282-A623-688000BB841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EE7C1"/>
                </a:solidFill>
                <a:latin typeface="Arial"/>
                <a:ea typeface="Arial"/>
                <a:cs typeface="Arial"/>
              </a:rPr>
              <a:t>Implemented safeguards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8C8079-748F-4934-993C-81451864F96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14300" cy="114300"/>
          </a:xfrm>
          <a:prstGeom prst="ellipse">
            <a:avLst/>
          </a:prstGeom>
          <a:solidFill>
            <a:srgbClr val="6EE7C1"/>
          </a:solidFill>
          <a:ln w="0">
            <a:solidFill>
              <a:srgbClr val="6EE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E0AE5-B9C3-49DD-B3F7-325CD856AE3F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Loopback only network controls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A0B2AA-2220-4745-9C12-490C7B3A7515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14300" cy="114300"/>
          </a:xfrm>
          <a:prstGeom prst="ellipse">
            <a:avLst/>
          </a:prstGeom>
          <a:solidFill>
            <a:srgbClr val="6EE7C1"/>
          </a:solidFill>
          <a:ln w="0">
            <a:solidFill>
              <a:srgbClr val="6EE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A50B53-318A-4C37-843F-08DD5E3260B7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Explicit control header and opt in write flags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8BB7DC-7AD6-4FA1-91EF-A39DF00D4805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14300" cy="114300"/>
          </a:xfrm>
          <a:prstGeom prst="ellipse">
            <a:avLst/>
          </a:prstGeom>
          <a:solidFill>
            <a:srgbClr val="6EE7C1"/>
          </a:solidFill>
          <a:ln w="0">
            <a:solidFill>
              <a:srgbClr val="6EE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CB757D-3D35-4DEA-8A4E-C714B4645A44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RLS and restricted client database roles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E59099-DC20-486C-AA5E-0276F7FABEDE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14300" cy="114300"/>
          </a:xfrm>
          <a:prstGeom prst="ellipse">
            <a:avLst/>
          </a:prstGeom>
          <a:solidFill>
            <a:srgbClr val="6EE7C1"/>
          </a:solidFill>
          <a:ln w="0">
            <a:solidFill>
              <a:srgbClr val="6EE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2550F6-902A-4809-A7FF-A2302B5A5BFE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Sanitized API errors and no browser secrets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481C2-35A0-4F1A-A45C-4AE740F5BCC6}"/>
              </a:ext>
            </a:extLst>
          </p:cNvPr>
          <p:cNvSpPr>
            <a:spLocks noGrp="1"/>
          </p:cNvSpPr>
          <p:nvPr/>
        </p:nvSpPr>
        <p:spPr>
          <a:xfrm>
            <a:off x="5943600" y="1809750"/>
            <a:ext cx="19050" cy="0"/>
          </a:xfrm>
          <a:prstGeom prst="rect">
            <a:avLst/>
          </a:prstGeom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8148B7-FDFF-4DB7-A1DF-D48B96D7B086}"/>
              </a:ext>
            </a:extLst>
          </p:cNvPr>
          <p:cNvSpPr>
            <a:spLocks noGrp="1"/>
          </p:cNvSpPr>
          <p:nvPr/>
        </p:nvSpPr>
        <p:spPr>
          <a:xfrm>
            <a:off x="6438900" y="1809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F4CE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CE72"/>
                </a:solidFill>
                <a:latin typeface="Arial"/>
                <a:ea typeface="Arial"/>
                <a:cs typeface="Arial"/>
              </a:rPr>
              <a:t>Commercial production gates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478837-A4C1-497A-8B1B-EFD94D3BC777}"/>
              </a:ext>
            </a:extLst>
          </p:cNvPr>
          <p:cNvSpPr>
            <a:spLocks noGrp="1"/>
          </p:cNvSpPr>
          <p:nvPr/>
        </p:nvSpPr>
        <p:spPr>
          <a:xfrm>
            <a:off x="6515100" y="2381250"/>
            <a:ext cx="114300" cy="114300"/>
          </a:xfrm>
          <a:prstGeom prst="ellipse">
            <a:avLst/>
          </a:prstGeom>
          <a:solidFill>
            <a:srgbClr val="F4CE72"/>
          </a:solidFill>
          <a:ln w="0">
            <a:solidFill>
              <a:srgbClr val="F4C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1E7B34-E89B-47E2-9689-EC7D955868B3}"/>
              </a:ext>
            </a:extLst>
          </p:cNvPr>
          <p:cNvSpPr>
            <a:spLocks noGrp="1"/>
          </p:cNvSpPr>
          <p:nvPr/>
        </p:nvSpPr>
        <p:spPr>
          <a:xfrm>
            <a:off x="6781800" y="22860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Tenant authentication with RBAC or SSO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957D77-6FC8-4D42-8316-2685C0175A0B}"/>
              </a:ext>
            </a:extLst>
          </p:cNvPr>
          <p:cNvSpPr>
            <a:spLocks noGrp="1"/>
          </p:cNvSpPr>
          <p:nvPr/>
        </p:nvSpPr>
        <p:spPr>
          <a:xfrm>
            <a:off x="6515100" y="3048000"/>
            <a:ext cx="114300" cy="114300"/>
          </a:xfrm>
          <a:prstGeom prst="ellipse">
            <a:avLst/>
          </a:prstGeom>
          <a:solidFill>
            <a:srgbClr val="F4CE72"/>
          </a:solidFill>
          <a:ln w="0">
            <a:solidFill>
              <a:srgbClr val="F4C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4E0A9E-7110-4DE3-923F-839D2A3C649C}"/>
              </a:ext>
            </a:extLst>
          </p:cNvPr>
          <p:cNvSpPr>
            <a:spLocks noGrp="1"/>
          </p:cNvSpPr>
          <p:nvPr/>
        </p:nvSpPr>
        <p:spPr>
          <a:xfrm>
            <a:off x="6781800" y="29527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Managed secrets and durable actor audit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16194DD-A2B3-498B-8110-F6B31A0F5D74}"/>
              </a:ext>
            </a:extLst>
          </p:cNvPr>
          <p:cNvSpPr>
            <a:spLocks noGrp="1"/>
          </p:cNvSpPr>
          <p:nvPr/>
        </p:nvSpPr>
        <p:spPr>
          <a:xfrm>
            <a:off x="6515100" y="3714750"/>
            <a:ext cx="114300" cy="114300"/>
          </a:xfrm>
          <a:prstGeom prst="ellipse">
            <a:avLst/>
          </a:prstGeom>
          <a:solidFill>
            <a:srgbClr val="F4CE72"/>
          </a:solidFill>
          <a:ln w="0">
            <a:solidFill>
              <a:srgbClr val="F4C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A9A761-80A4-4C9C-B0F0-E89BA815C848}"/>
              </a:ext>
            </a:extLst>
          </p:cNvPr>
          <p:cNvSpPr>
            <a:spLocks noGrp="1"/>
          </p:cNvSpPr>
          <p:nvPr/>
        </p:nvSpPr>
        <p:spPr>
          <a:xfrm>
            <a:off x="6781800" y="3619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Dependency upgrade and independent security review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DB624C3-40CD-4C77-BB99-95D31887F281}"/>
              </a:ext>
            </a:extLst>
          </p:cNvPr>
          <p:cNvSpPr>
            <a:spLocks noGrp="1"/>
          </p:cNvSpPr>
          <p:nvPr/>
        </p:nvSpPr>
        <p:spPr>
          <a:xfrm>
            <a:off x="6515100" y="4381500"/>
            <a:ext cx="114300" cy="114300"/>
          </a:xfrm>
          <a:prstGeom prst="ellipse">
            <a:avLst/>
          </a:prstGeom>
          <a:solidFill>
            <a:srgbClr val="F4CE72"/>
          </a:solidFill>
          <a:ln w="0">
            <a:solidFill>
              <a:srgbClr val="F4C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1E7F3F-112A-423A-8D8A-9B24E40E7CE2}"/>
              </a:ext>
            </a:extLst>
          </p:cNvPr>
          <p:cNvSpPr>
            <a:spLocks noGrp="1"/>
          </p:cNvSpPr>
          <p:nvPr/>
        </p:nvSpPr>
        <p:spPr>
          <a:xfrm>
            <a:off x="6781800" y="42862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Backup, SLA operations, and load testing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BD62C7-B6BC-4D00-B4AB-8EF3C38ADD18}"/>
              </a:ext>
            </a:extLst>
          </p:cNvPr>
          <p:cNvSpPr>
            <a:spLocks noGrp="1"/>
          </p:cNvSpPr>
          <p:nvPr/>
        </p:nvSpPr>
        <p:spPr>
          <a:xfrm>
            <a:off x="6438900" y="5410200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FF9DA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DAC"/>
                </a:solidFill>
                <a:latin typeface="Arial"/>
                <a:ea typeface="Arial"/>
                <a:cs typeface="Arial"/>
              </a:rPr>
              <a:t>The current build should remain on loopback until the production gates are complete.</a:t>
            </a:r>
          </a:p>
        </p:txBody>
      </p:sp>
    </p:spTree>
    <p:extLst>
      <p:ext uri="{BB962C8B-B14F-4D97-AF65-F5344CB8AC3E}">
        <p14:creationId xmlns:p14="http://schemas.microsoft.com/office/powerpoint/2010/main" val="848248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075A64-8FC8-43C6-936F-7902172C8BA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0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COMMERCIAL PATH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B95B22-A8C2-4260-A069-8D0453E381D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A controlled pilot validates the customer workflow first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B0E3FA-252C-441D-A8D3-083A31439527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5609E3-7DC5-41B0-A282-C8F734122AA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FDB040-903E-44B4-A495-581098B2CD1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F1E76-84F5-4D05-835C-F7388037F7C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D67C2-A568-41B9-B017-53A93EBAD759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SCOPED PILOT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B4056-5DA5-4BC0-AB45-DF2437D67163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Connect one approved lab or read only telemetry source.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B2F6B-9AA1-4F1E-BFC0-45D6C9BBE2D7}"/>
              </a:ext>
            </a:extLst>
          </p:cNvPr>
          <p:cNvSpPr>
            <a:spLocks noGrp="1"/>
          </p:cNvSpPr>
          <p:nvPr/>
        </p:nvSpPr>
        <p:spPr>
          <a:xfrm>
            <a:off x="3771900" y="2609850"/>
            <a:ext cx="49530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8E0732-0565-4912-AE8F-5CB98E4F129E}"/>
              </a:ext>
            </a:extLst>
          </p:cNvPr>
          <p:cNvSpPr>
            <a:spLocks noGrp="1"/>
          </p:cNvSpPr>
          <p:nvPr/>
        </p:nvSpPr>
        <p:spPr>
          <a:xfrm>
            <a:off x="4181475" y="2543175"/>
            <a:ext cx="152400" cy="152400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32EF3-CDD9-4C7E-BAD0-C788DE44765B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70EDF7-A558-4783-B7DD-F39D4870C3A1}"/>
              </a:ext>
            </a:extLst>
          </p:cNvPr>
          <p:cNvSpPr>
            <a:spLocks noGrp="1"/>
          </p:cNvSpPr>
          <p:nvPr/>
        </p:nvSpPr>
        <p:spPr>
          <a:xfrm>
            <a:off x="4419600" y="2515522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EEF6FB"/>
                </a:solidFill>
                <a:latin typeface="Arial"/>
                <a:ea typeface="Arial"/>
                <a:cs typeface="Arial"/>
              </a:rPr>
              <a:t>WORKFLOW 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C249F4-26EC-4F7A-A90E-51105099F623}"/>
              </a:ext>
            </a:extLst>
          </p:cNvPr>
          <p:cNvSpPr>
            <a:spLocks noGrp="1"/>
          </p:cNvSpPr>
          <p:nvPr/>
        </p:nvSpPr>
        <p:spPr>
          <a:xfrm>
            <a:off x="4343400" y="29146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Review incident evidence, RCA candidates, and operator decisions.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64433-3B78-4894-91D3-1DD62D8717EE}"/>
              </a:ext>
            </a:extLst>
          </p:cNvPr>
          <p:cNvSpPr>
            <a:spLocks noGrp="1"/>
          </p:cNvSpPr>
          <p:nvPr/>
        </p:nvSpPr>
        <p:spPr>
          <a:xfrm>
            <a:off x="7505700" y="2609850"/>
            <a:ext cx="49530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C8354D-EFBE-4E33-A38E-A0C6FDC232D0}"/>
              </a:ext>
            </a:extLst>
          </p:cNvPr>
          <p:cNvSpPr>
            <a:spLocks noGrp="1"/>
          </p:cNvSpPr>
          <p:nvPr/>
        </p:nvSpPr>
        <p:spPr>
          <a:xfrm>
            <a:off x="7915275" y="2543175"/>
            <a:ext cx="152400" cy="152400"/>
          </a:xfrm>
          <a:prstGeom prst="ellipse">
            <a:avLst/>
          </a:prstGeom>
          <a:solidFill>
            <a:srgbClr val="67B6FF"/>
          </a:solidFill>
          <a:ln w="0">
            <a:solidFill>
              <a:srgbClr val="67B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FBEEF4-5595-4F34-980D-BCDD026AB0BA}"/>
              </a:ext>
            </a:extLst>
          </p:cNvPr>
          <p:cNvSpPr>
            <a:spLocks noGrp="1"/>
          </p:cNvSpPr>
          <p:nvPr/>
        </p:nvSpPr>
        <p:spPr>
          <a:xfrm>
            <a:off x="8077200" y="2000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C2A692-1ABC-4706-9424-29BBC67505F6}"/>
              </a:ext>
            </a:extLst>
          </p:cNvPr>
          <p:cNvSpPr>
            <a:spLocks noGrp="1"/>
          </p:cNvSpPr>
          <p:nvPr/>
        </p:nvSpPr>
        <p:spPr>
          <a:xfrm>
            <a:off x="8162925" y="25050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EEF6FB"/>
                </a:solidFill>
                <a:latin typeface="Arial"/>
                <a:ea typeface="Arial"/>
                <a:cs typeface="Arial"/>
              </a:rPr>
              <a:t>PRODUCTION HARDENING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E33A24-E529-46C7-832F-D6FA1D1BF2F7}"/>
              </a:ext>
            </a:extLst>
          </p:cNvPr>
          <p:cNvSpPr>
            <a:spLocks noGrp="1"/>
          </p:cNvSpPr>
          <p:nvPr/>
        </p:nvSpPr>
        <p:spPr>
          <a:xfrm>
            <a:off x="8077200" y="29146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350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Add tenant identity, deployment controls, operations, and support.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DC928B-FFFD-4CB6-8F9A-F55F8455F856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1057275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2FDEB8-93A6-4767-9D55-D92B46D62DBA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Commercial model to validate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AB80B8-2553-4598-BE3E-8ACB2EED89F8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Pilot services for integration and workflow 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D5931D-7CDE-4655-AB6C-BCED9B33F0C7}"/>
              </a:ext>
            </a:extLst>
          </p:cNvPr>
          <p:cNvSpPr>
            <a:spLocks noGrp="1"/>
          </p:cNvSpPr>
          <p:nvPr/>
        </p:nvSpPr>
        <p:spPr>
          <a:xfrm>
            <a:off x="5810250" y="50101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Subscription licensing after the production architecture is agreed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5343D4-2414-497C-BEE4-2EAE4A2A1076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BCA"/>
                </a:solidFill>
                <a:latin typeface="Arial"/>
                <a:ea typeface="Arial"/>
                <a:cs typeface="Arial"/>
              </a:rPr>
              <a:t>Pricing depends on deployment scope, managed environments, and support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051561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6FDAD-3C3A-4C2B-8F50-B33D0D04D4C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8536F-025A-40D7-B98C-66BC2FA9DB05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94000"/>
              </a:lnSpc>
              <a:buNone/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Network investigations</a:t>
            </a:r>
          </a:p>
          <a:p>
            <a:pPr algn="l">
              <a:lnSpc>
                <a:spcPct val="94000"/>
              </a:lnSpc>
              <a:buNone/>
              <a:defRPr sz="39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that teams can trace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DF4FAF-7F98-4AC1-A38E-B29DE5E03498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7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7B6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1F17C-23F3-4CC0-A6F6-94F69C7A3A51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733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6FB"/>
                </a:solidFill>
                <a:latin typeface="Arial"/>
                <a:ea typeface="Arial"/>
                <a:cs typeface="Arial"/>
              </a:rPr>
              <a:t>Select one approved topology and evidence source for a controlled pilot.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8BA796-9ACA-4AF3-8377-2A3B8CF5DED2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2870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7949AF-E6F3-45F2-B3A5-A0BDD3E9EFDB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Pilot discussion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8ABBCD-D41E-4049-A74C-69F14CE2ACF5}"/>
              </a:ext>
            </a:extLst>
          </p:cNvPr>
          <p:cNvSpPr>
            <a:spLocks noGrp="1"/>
          </p:cNvSpPr>
          <p:nvPr/>
        </p:nvSpPr>
        <p:spPr>
          <a:xfrm>
            <a:off x="3143250" y="52578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Target environment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F10DDF-1E0B-4260-BB8C-AAE03E0FBB77}"/>
              </a:ext>
            </a:extLst>
          </p:cNvPr>
          <p:cNvSpPr>
            <a:spLocks noGrp="1"/>
          </p:cNvSpPr>
          <p:nvPr/>
        </p:nvSpPr>
        <p:spPr>
          <a:xfrm>
            <a:off x="5619750" y="52578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Available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3AE30-2AD4-40A5-85DC-98D26E6C2B63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EEF6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6FB"/>
                </a:solidFill>
                <a:latin typeface="Arial"/>
                <a:ea typeface="Arial"/>
                <a:cs typeface="Arial"/>
              </a:rPr>
              <a:t>Success criteria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B4BFC0-35FC-4F44-8DCD-6722EC0F94F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NETRCA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D069FE-5186-4879-923B-1228594BDBB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825" b="1">
                <a:solidFill>
                  <a:srgbClr val="A6BBC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BC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08875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892</Words>
  <Application>Microsoft Office PowerPoint</Application>
  <DocSecurity>0</DocSecurity>
  <PresentationFormat>Widescreen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Zeeshan Ahmad</cp:lastModifiedBy>
  <cp:revision>3</cp:revision>
  <dcterms:created xsi:type="dcterms:W3CDTF">2026-10-31T14:02:03Z</dcterms:created>
  <dcterms:modified xsi:type="dcterms:W3CDTF">2026-10-31T14:12:44Z</dcterms:modified>
</cp:coreProperties>
</file>